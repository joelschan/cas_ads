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Helvetica Neue"/>
      <p:regular r:id="rId22"/>
      <p:bold r:id="rId23"/>
      <p:italic r:id="rId24"/>
      <p:boldItalic r:id="rId25"/>
    </p:embeddedFont>
    <p:embeddedFont>
      <p:font typeface="Helvetica Neue Ligh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giy1puKhQ5GaSpx5LqRftfkW14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41572F-3D5A-4BCB-8FA5-35E784A2FD8E}">
  <a:tblStyle styleId="{6F41572F-3D5A-4BCB-8FA5-35E784A2FD8E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61FC1B8B-270D-4CD8-8E2F-34E9D90F3E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HelveticaNeue-regular.fntdata"/><Relationship Id="rId21" Type="http://schemas.openxmlformats.org/officeDocument/2006/relationships/slide" Target="slides/slide16.xml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Light-regular.fntdata"/><Relationship Id="rId25" Type="http://schemas.openxmlformats.org/officeDocument/2006/relationships/font" Target="fonts/HelveticaNeue-boldItalic.fntdata"/><Relationship Id="rId28" Type="http://schemas.openxmlformats.org/officeDocument/2006/relationships/font" Target="fonts/HelveticaNeueLight-italic.fntdata"/><Relationship Id="rId27" Type="http://schemas.openxmlformats.org/officeDocument/2006/relationships/font" Target="fonts/HelveticaNeue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af4c06815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8af4c06815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af4c06815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8af4c06815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af4c06815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8af4c06815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af4c06815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8af4c06815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af4c06815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8af4c06815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af4c06815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8af4c06815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 Light"/>
              <a:buNone/>
              <a:defRPr b="0" i="0" sz="6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838200" y="365126"/>
            <a:ext cx="10515600" cy="98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838200" y="1575412"/>
            <a:ext cx="10515600" cy="4601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 Ligh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  <a:defRPr b="0" i="0" sz="4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mX-t4hHH_f5_BbIg_YQrp5L8kU0QZY9m/view" TargetMode="External"/><Relationship Id="rId4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Helvetica Neue Light"/>
              <a:buNone/>
            </a:pPr>
            <a:r>
              <a:rPr lang="en-US"/>
              <a:t>Statistical Analysis of Traffic Simulations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63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Comparing Infrastructure Scenarios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524000" y="4241494"/>
            <a:ext cx="9144000" cy="418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F8C8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Joel Schaniel &amp; Viktor Suter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524000" y="4770781"/>
            <a:ext cx="9144000" cy="418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F8C8D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CAS Applied Data Science, Module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6"/>
            <a:ext cx="10515600" cy="98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97" name="Google Shape;9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9" name="Google Shape;99;p2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990600" y="1727800"/>
            <a:ext cx="5420700" cy="46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019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140"/>
              <a:buFont typeface="Helvetica Neue Light"/>
              <a:buChar char="•"/>
            </a:pPr>
            <a:r>
              <a:rPr lang="en-US" sz="2140"/>
              <a:t>Building road </a:t>
            </a:r>
            <a:r>
              <a:rPr lang="en-US" sz="2140"/>
              <a:t>infrastructure</a:t>
            </a:r>
            <a:r>
              <a:rPr lang="en-US" sz="2140"/>
              <a:t> is expensive and tedious</a:t>
            </a:r>
            <a:endParaRPr sz="2140"/>
          </a:p>
          <a:p>
            <a:pPr indent="-25019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140"/>
              <a:buFont typeface="Helvetica Neue Light"/>
              <a:buChar char="•"/>
            </a:pPr>
            <a:r>
              <a:rPr lang="en-US" sz="2140"/>
              <a:t>Traffic simulations as an important tool to test before building</a:t>
            </a:r>
            <a:endParaRPr sz="2140"/>
          </a:p>
          <a:p>
            <a:pPr indent="-213359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140"/>
              <a:buFont typeface="Helvetica Neue Light"/>
              <a:buChar char="•"/>
            </a:pPr>
            <a:r>
              <a:rPr lang="en-US" sz="2140"/>
              <a:t>Microscopic traffic simulations </a:t>
            </a:r>
            <a:r>
              <a:rPr lang="en-US" sz="2140"/>
              <a:t>mimic behavior of individual road users</a:t>
            </a:r>
            <a:endParaRPr sz="2140"/>
          </a:p>
          <a:p>
            <a:pPr indent="-213359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140"/>
              <a:buFont typeface="Helvetica Neue Light"/>
              <a:buChar char="•"/>
            </a:pPr>
            <a:r>
              <a:rPr lang="en-US" sz="2140"/>
              <a:t>Necessary in urban environments where intersections are close together and interfere with each other</a:t>
            </a:r>
            <a:endParaRPr b="1" sz="2140"/>
          </a:p>
        </p:txBody>
      </p:sp>
      <p:pic>
        <p:nvPicPr>
          <p:cNvPr id="101" name="Google Shape;101;p2" title="Test_00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8650" y="2213725"/>
            <a:ext cx="5420702" cy="36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af4c06815_0_11"/>
          <p:cNvSpPr txBox="1"/>
          <p:nvPr>
            <p:ph type="title"/>
          </p:nvPr>
        </p:nvSpPr>
        <p:spPr>
          <a:xfrm>
            <a:off x="838200" y="365126"/>
            <a:ext cx="105156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Test Case</a:t>
            </a:r>
            <a:endParaRPr/>
          </a:p>
        </p:txBody>
      </p:sp>
      <p:sp>
        <p:nvSpPr>
          <p:cNvPr id="107" name="Google Shape;107;g38af4c06815_0_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8af4c06815_0_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9" name="Google Shape;109;g38af4c06815_0_11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g38af4c06815_0_11"/>
          <p:cNvSpPr txBox="1"/>
          <p:nvPr>
            <p:ph idx="1" type="body"/>
          </p:nvPr>
        </p:nvSpPr>
        <p:spPr>
          <a:xfrm>
            <a:off x="990600" y="1727800"/>
            <a:ext cx="10363200" cy="3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600"/>
              <a:buChar char="•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Simple network:</a:t>
            </a:r>
            <a:r>
              <a:rPr b="1" lang="en-US" sz="2600"/>
              <a:t> </a:t>
            </a:r>
            <a:r>
              <a:rPr lang="en-US" sz="2600"/>
              <a:t>2 T-intersections with traffic lights in close proximity</a:t>
            </a:r>
            <a:endParaRPr sz="2600"/>
          </a:p>
          <a:p>
            <a:pPr indent="-2794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600"/>
              <a:buChar char="•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Traffic:</a:t>
            </a:r>
            <a:r>
              <a:rPr b="1" lang="en-US" sz="2600"/>
              <a:t> </a:t>
            </a:r>
            <a:r>
              <a:rPr lang="en-US" sz="2600"/>
              <a:t>Main traffic load on the east - west corridor, smaller loads on the northern and southern legs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600"/>
              <a:buChar char="•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Public transport:</a:t>
            </a:r>
            <a:r>
              <a:rPr lang="en-US" sz="2600"/>
              <a:t> Bus line on the east - west corridor, 2 bus stops in each direction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600"/>
              <a:buChar char="•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Study design</a:t>
            </a: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lang="en-US" sz="2600"/>
              <a:t> 4 Scenarios</a:t>
            </a:r>
            <a:endParaRPr sz="2600"/>
          </a:p>
          <a:p>
            <a:pPr indent="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14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af4c06815_0_21"/>
          <p:cNvSpPr txBox="1"/>
          <p:nvPr>
            <p:ph type="title"/>
          </p:nvPr>
        </p:nvSpPr>
        <p:spPr>
          <a:xfrm>
            <a:off x="838200" y="365126"/>
            <a:ext cx="105156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Scenarios</a:t>
            </a:r>
            <a:endParaRPr/>
          </a:p>
        </p:txBody>
      </p:sp>
      <p:sp>
        <p:nvSpPr>
          <p:cNvPr id="116" name="Google Shape;116;g38af4c06815_0_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8af4c06815_0_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8" name="Google Shape;118;g38af4c06815_0_21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g38af4c06815_0_21"/>
          <p:cNvSpPr txBox="1"/>
          <p:nvPr>
            <p:ph idx="1" type="body"/>
          </p:nvPr>
        </p:nvSpPr>
        <p:spPr>
          <a:xfrm>
            <a:off x="375900" y="3625813"/>
            <a:ext cx="35061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40">
                <a:latin typeface="Helvetica Neue"/>
                <a:ea typeface="Helvetica Neue"/>
                <a:cs typeface="Helvetica Neue"/>
                <a:sym typeface="Helvetica Neue"/>
              </a:rPr>
              <a:t>Scenario 1: </a:t>
            </a:r>
            <a:r>
              <a:rPr lang="en-US" sz="2140"/>
              <a:t>Base</a:t>
            </a:r>
            <a:endParaRPr sz="2140"/>
          </a:p>
          <a:p>
            <a:pPr indent="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140"/>
          </a:p>
        </p:txBody>
      </p:sp>
      <p:pic>
        <p:nvPicPr>
          <p:cNvPr id="120" name="Google Shape;120;g38af4c06815_0_21"/>
          <p:cNvPicPr preferRelativeResize="0"/>
          <p:nvPr/>
        </p:nvPicPr>
        <p:blipFill rotWithShape="1">
          <a:blip r:embed="rId3">
            <a:alphaModFix/>
          </a:blip>
          <a:srcRect b="11535" l="0" r="0" t="0"/>
          <a:stretch/>
        </p:blipFill>
        <p:spPr>
          <a:xfrm>
            <a:off x="6144550" y="1620475"/>
            <a:ext cx="5671549" cy="20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8af4c06815_0_21"/>
          <p:cNvPicPr preferRelativeResize="0"/>
          <p:nvPr/>
        </p:nvPicPr>
        <p:blipFill rotWithShape="1">
          <a:blip r:embed="rId4">
            <a:alphaModFix/>
          </a:blip>
          <a:srcRect b="11527" l="3642" r="0" t="0"/>
          <a:stretch/>
        </p:blipFill>
        <p:spPr>
          <a:xfrm>
            <a:off x="375900" y="1620475"/>
            <a:ext cx="5671551" cy="200536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8af4c06815_0_21"/>
          <p:cNvSpPr txBox="1"/>
          <p:nvPr>
            <p:ph idx="1" type="body"/>
          </p:nvPr>
        </p:nvSpPr>
        <p:spPr>
          <a:xfrm>
            <a:off x="6144550" y="3631325"/>
            <a:ext cx="35061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40">
                <a:latin typeface="Helvetica Neue"/>
                <a:ea typeface="Helvetica Neue"/>
                <a:cs typeface="Helvetica Neue"/>
                <a:sym typeface="Helvetica Neue"/>
              </a:rPr>
              <a:t>Scenario 2: </a:t>
            </a:r>
            <a:r>
              <a:rPr lang="en-US" sz="2140"/>
              <a:t>No bus bay</a:t>
            </a:r>
            <a:endParaRPr sz="2140"/>
          </a:p>
          <a:p>
            <a:pPr indent="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140"/>
          </a:p>
        </p:txBody>
      </p:sp>
      <p:sp>
        <p:nvSpPr>
          <p:cNvPr id="123" name="Google Shape;123;g38af4c06815_0_21"/>
          <p:cNvSpPr/>
          <p:nvPr/>
        </p:nvSpPr>
        <p:spPr>
          <a:xfrm>
            <a:off x="11185428" y="2329768"/>
            <a:ext cx="553500" cy="566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24" name="Google Shape;124;g38af4c06815_0_21"/>
          <p:cNvPicPr preferRelativeResize="0"/>
          <p:nvPr/>
        </p:nvPicPr>
        <p:blipFill rotWithShape="1">
          <a:blip r:embed="rId5">
            <a:alphaModFix/>
          </a:blip>
          <a:srcRect b="11535" l="695" r="0" t="0"/>
          <a:stretch/>
        </p:blipFill>
        <p:spPr>
          <a:xfrm>
            <a:off x="375900" y="4074625"/>
            <a:ext cx="5671550" cy="20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8af4c06815_0_21"/>
          <p:cNvSpPr txBox="1"/>
          <p:nvPr>
            <p:ph idx="1" type="body"/>
          </p:nvPr>
        </p:nvSpPr>
        <p:spPr>
          <a:xfrm>
            <a:off x="375900" y="6079975"/>
            <a:ext cx="42708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40">
                <a:latin typeface="Helvetica Neue"/>
                <a:ea typeface="Helvetica Neue"/>
                <a:cs typeface="Helvetica Neue"/>
                <a:sym typeface="Helvetica Neue"/>
              </a:rPr>
              <a:t>Scenario 3: </a:t>
            </a:r>
            <a:r>
              <a:rPr lang="en-US" sz="2140"/>
              <a:t>Actuated traffic lights</a:t>
            </a:r>
            <a:endParaRPr sz="2140"/>
          </a:p>
          <a:p>
            <a:pPr indent="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140"/>
          </a:p>
        </p:txBody>
      </p:sp>
      <p:cxnSp>
        <p:nvCxnSpPr>
          <p:cNvPr id="126" name="Google Shape;126;g38af4c06815_0_21"/>
          <p:cNvCxnSpPr/>
          <p:nvPr/>
        </p:nvCxnSpPr>
        <p:spPr>
          <a:xfrm flipH="1">
            <a:off x="2332325" y="4707275"/>
            <a:ext cx="7500" cy="235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g38af4c06815_0_21"/>
          <p:cNvCxnSpPr/>
          <p:nvPr/>
        </p:nvCxnSpPr>
        <p:spPr>
          <a:xfrm flipH="1">
            <a:off x="2580825" y="4707275"/>
            <a:ext cx="7500" cy="235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g38af4c06815_0_21"/>
          <p:cNvCxnSpPr/>
          <p:nvPr/>
        </p:nvCxnSpPr>
        <p:spPr>
          <a:xfrm>
            <a:off x="3075225" y="4653650"/>
            <a:ext cx="699600" cy="288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g38af4c06815_0_21"/>
          <p:cNvCxnSpPr/>
          <p:nvPr/>
        </p:nvCxnSpPr>
        <p:spPr>
          <a:xfrm flipH="1">
            <a:off x="1194000" y="4667250"/>
            <a:ext cx="330000" cy="288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g38af4c06815_0_21"/>
          <p:cNvCxnSpPr/>
          <p:nvPr/>
        </p:nvCxnSpPr>
        <p:spPr>
          <a:xfrm rot="10800000">
            <a:off x="951875" y="5149700"/>
            <a:ext cx="0" cy="22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g38af4c06815_0_21"/>
          <p:cNvCxnSpPr/>
          <p:nvPr/>
        </p:nvCxnSpPr>
        <p:spPr>
          <a:xfrm rot="10800000">
            <a:off x="1083025" y="5149700"/>
            <a:ext cx="0" cy="22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g38af4c06815_0_21"/>
          <p:cNvCxnSpPr/>
          <p:nvPr/>
        </p:nvCxnSpPr>
        <p:spPr>
          <a:xfrm rot="10800000">
            <a:off x="1524750" y="5149700"/>
            <a:ext cx="0" cy="22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g38af4c06815_0_21"/>
          <p:cNvCxnSpPr/>
          <p:nvPr/>
        </p:nvCxnSpPr>
        <p:spPr>
          <a:xfrm rot="10800000">
            <a:off x="1766325" y="5149700"/>
            <a:ext cx="0" cy="22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g38af4c06815_0_21"/>
          <p:cNvCxnSpPr/>
          <p:nvPr/>
        </p:nvCxnSpPr>
        <p:spPr>
          <a:xfrm flipH="1" rot="10800000">
            <a:off x="2319125" y="5149700"/>
            <a:ext cx="72000" cy="22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5" name="Google Shape;135;g38af4c06815_0_21"/>
          <p:cNvPicPr preferRelativeResize="0"/>
          <p:nvPr/>
        </p:nvPicPr>
        <p:blipFill rotWithShape="1">
          <a:blip r:embed="rId6">
            <a:alphaModFix/>
          </a:blip>
          <a:srcRect b="3735" l="0" r="0" t="0"/>
          <a:stretch/>
        </p:blipFill>
        <p:spPr>
          <a:xfrm>
            <a:off x="6199850" y="4074625"/>
            <a:ext cx="5671549" cy="200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8af4c06815_0_21"/>
          <p:cNvSpPr/>
          <p:nvPr/>
        </p:nvSpPr>
        <p:spPr>
          <a:xfrm>
            <a:off x="11131000" y="4794093"/>
            <a:ext cx="553500" cy="566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7" name="Google Shape;137;g38af4c06815_0_21"/>
          <p:cNvSpPr txBox="1"/>
          <p:nvPr/>
        </p:nvSpPr>
        <p:spPr>
          <a:xfrm>
            <a:off x="933375" y="5360488"/>
            <a:ext cx="16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Detectors</a:t>
            </a:r>
            <a:endParaRPr sz="2200">
              <a:solidFill>
                <a:schemeClr val="accent5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8" name="Google Shape;138;g38af4c06815_0_21"/>
          <p:cNvSpPr txBox="1"/>
          <p:nvPr/>
        </p:nvSpPr>
        <p:spPr>
          <a:xfrm>
            <a:off x="1522175" y="4129350"/>
            <a:ext cx="16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Detectors</a:t>
            </a:r>
            <a:endParaRPr sz="2200">
              <a:solidFill>
                <a:schemeClr val="accent5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39" name="Google Shape;139;g38af4c06815_0_21"/>
          <p:cNvCxnSpPr/>
          <p:nvPr/>
        </p:nvCxnSpPr>
        <p:spPr>
          <a:xfrm flipH="1">
            <a:off x="8169882" y="4707275"/>
            <a:ext cx="7500" cy="235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g38af4c06815_0_21"/>
          <p:cNvCxnSpPr/>
          <p:nvPr/>
        </p:nvCxnSpPr>
        <p:spPr>
          <a:xfrm flipH="1">
            <a:off x="8418382" y="4707275"/>
            <a:ext cx="7500" cy="235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g38af4c06815_0_21"/>
          <p:cNvCxnSpPr/>
          <p:nvPr/>
        </p:nvCxnSpPr>
        <p:spPr>
          <a:xfrm>
            <a:off x="8912782" y="4653650"/>
            <a:ext cx="699600" cy="288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g38af4c06815_0_21"/>
          <p:cNvCxnSpPr/>
          <p:nvPr/>
        </p:nvCxnSpPr>
        <p:spPr>
          <a:xfrm flipH="1">
            <a:off x="7031557" y="4667250"/>
            <a:ext cx="330000" cy="288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g38af4c06815_0_21"/>
          <p:cNvCxnSpPr/>
          <p:nvPr/>
        </p:nvCxnSpPr>
        <p:spPr>
          <a:xfrm rot="10800000">
            <a:off x="6789432" y="5149700"/>
            <a:ext cx="0" cy="22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g38af4c06815_0_21"/>
          <p:cNvCxnSpPr/>
          <p:nvPr/>
        </p:nvCxnSpPr>
        <p:spPr>
          <a:xfrm rot="10800000">
            <a:off x="6920582" y="5149700"/>
            <a:ext cx="0" cy="22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g38af4c06815_0_21"/>
          <p:cNvCxnSpPr/>
          <p:nvPr/>
        </p:nvCxnSpPr>
        <p:spPr>
          <a:xfrm rot="10800000">
            <a:off x="7362307" y="5149700"/>
            <a:ext cx="0" cy="22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g38af4c06815_0_21"/>
          <p:cNvCxnSpPr/>
          <p:nvPr/>
        </p:nvCxnSpPr>
        <p:spPr>
          <a:xfrm rot="10800000">
            <a:off x="7603882" y="5149700"/>
            <a:ext cx="0" cy="22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g38af4c06815_0_21"/>
          <p:cNvCxnSpPr/>
          <p:nvPr/>
        </p:nvCxnSpPr>
        <p:spPr>
          <a:xfrm flipH="1" rot="10800000">
            <a:off x="8156682" y="5149700"/>
            <a:ext cx="72000" cy="227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g38af4c06815_0_21"/>
          <p:cNvSpPr txBox="1"/>
          <p:nvPr/>
        </p:nvSpPr>
        <p:spPr>
          <a:xfrm>
            <a:off x="6770932" y="5360488"/>
            <a:ext cx="16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Detectors</a:t>
            </a:r>
            <a:endParaRPr sz="2200">
              <a:solidFill>
                <a:schemeClr val="accent5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9" name="Google Shape;149;g38af4c06815_0_21"/>
          <p:cNvSpPr txBox="1"/>
          <p:nvPr/>
        </p:nvSpPr>
        <p:spPr>
          <a:xfrm>
            <a:off x="7359732" y="4129350"/>
            <a:ext cx="16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Detectors</a:t>
            </a:r>
            <a:endParaRPr sz="2200">
              <a:solidFill>
                <a:schemeClr val="accent5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0" name="Google Shape;150;g38af4c06815_0_21"/>
          <p:cNvSpPr txBox="1"/>
          <p:nvPr/>
        </p:nvSpPr>
        <p:spPr>
          <a:xfrm>
            <a:off x="10205507" y="1748100"/>
            <a:ext cx="16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No bus bay</a:t>
            </a:r>
            <a:endParaRPr sz="2200">
              <a:solidFill>
                <a:schemeClr val="accent5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1" name="Google Shape;151;g38af4c06815_0_21"/>
          <p:cNvSpPr txBox="1"/>
          <p:nvPr/>
        </p:nvSpPr>
        <p:spPr>
          <a:xfrm>
            <a:off x="10205507" y="4270900"/>
            <a:ext cx="166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No bus bay</a:t>
            </a:r>
            <a:endParaRPr sz="2200">
              <a:solidFill>
                <a:schemeClr val="accent5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2" name="Google Shape;152;g38af4c06815_0_21"/>
          <p:cNvSpPr txBox="1"/>
          <p:nvPr>
            <p:ph idx="1" type="body"/>
          </p:nvPr>
        </p:nvSpPr>
        <p:spPr>
          <a:xfrm>
            <a:off x="6199850" y="6079975"/>
            <a:ext cx="58290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140">
                <a:latin typeface="Helvetica Neue"/>
                <a:ea typeface="Helvetica Neue"/>
                <a:cs typeface="Helvetica Neue"/>
                <a:sym typeface="Helvetica Neue"/>
              </a:rPr>
              <a:t>Scenario 4: </a:t>
            </a:r>
            <a:r>
              <a:rPr lang="en-US" sz="2140"/>
              <a:t>Actuated traffic lights &amp; no bus bay</a:t>
            </a:r>
            <a:endParaRPr sz="2140"/>
          </a:p>
          <a:p>
            <a:pPr indent="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14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 txBox="1"/>
          <p:nvPr>
            <p:ph type="title"/>
          </p:nvPr>
        </p:nvSpPr>
        <p:spPr>
          <a:xfrm>
            <a:off x="838200" y="365126"/>
            <a:ext cx="10515600" cy="98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Research Focus</a:t>
            </a:r>
            <a:endParaRPr/>
          </a:p>
        </p:txBody>
      </p:sp>
      <p:sp>
        <p:nvSpPr>
          <p:cNvPr id="158" name="Google Shape;158;p3"/>
          <p:cNvSpPr txBox="1"/>
          <p:nvPr>
            <p:ph idx="1" type="body"/>
          </p:nvPr>
        </p:nvSpPr>
        <p:spPr>
          <a:xfrm>
            <a:off x="838200" y="1575412"/>
            <a:ext cx="10515600" cy="4601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257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600"/>
              <a:buChar char="•"/>
            </a:pPr>
            <a:r>
              <a:rPr b="1" lang="en-US" sz="2600"/>
              <a:t>Comparisons:</a:t>
            </a:r>
            <a:r>
              <a:rPr lang="en-US" sz="2600"/>
              <a:t> Buses vs all other vehicles (cars, trucks, etc.)</a:t>
            </a:r>
            <a:endParaRPr sz="2600"/>
          </a:p>
          <a:p>
            <a:pPr indent="-24257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600"/>
              <a:buChar char="•"/>
            </a:pPr>
            <a:r>
              <a:rPr b="1" lang="en-US" sz="2600"/>
              <a:t>Routes:</a:t>
            </a:r>
            <a:r>
              <a:rPr lang="en-US" sz="2600"/>
              <a:t> Route 1 (east-west) and Route 2 (west-east)</a:t>
            </a:r>
            <a:endParaRPr sz="2600"/>
          </a:p>
          <a:p>
            <a:pPr indent="-24257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600"/>
              <a:buChar char="•"/>
            </a:pPr>
            <a:r>
              <a:rPr b="1" lang="en-US" sz="2600"/>
              <a:t>Main Metric:</a:t>
            </a:r>
            <a:endParaRPr sz="2600"/>
          </a:p>
          <a:p>
            <a:pPr indent="-24257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600"/>
              <a:buChar char="•"/>
            </a:pPr>
            <a:r>
              <a:rPr b="1" lang="en-US" sz="2600"/>
              <a:t>Data:</a:t>
            </a:r>
            <a:r>
              <a:rPr lang="en-US" sz="2600"/>
              <a:t> 50 simulation runs per scenario</a:t>
            </a:r>
            <a:endParaRPr sz="2600"/>
          </a:p>
          <a:p>
            <a:pPr indent="-24257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600"/>
              <a:buChar char="•"/>
            </a:pPr>
            <a:r>
              <a:rPr b="1" lang="en-US" sz="2600"/>
              <a:t>Sample size:</a:t>
            </a:r>
            <a:r>
              <a:rPr lang="en-US" sz="2600"/>
              <a:t> ~1200 observations each simulation run</a:t>
            </a:r>
            <a:endParaRPr sz="2600">
              <a:solidFill>
                <a:schemeClr val="lt1"/>
              </a:solidFill>
              <a:highlight>
                <a:srgbClr val="7F8C8D"/>
              </a:highlight>
            </a:endParaRPr>
          </a:p>
        </p:txBody>
      </p:sp>
      <p:sp>
        <p:nvSpPr>
          <p:cNvPr id="159" name="Google Shape;15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3104292" y="3353603"/>
            <a:ext cx="2027100" cy="462600"/>
          </a:xfrm>
          <a:prstGeom prst="roundRect">
            <a:avLst>
              <a:gd fmla="val 16667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Travel Time</a:t>
            </a:r>
            <a:endParaRPr sz="2600"/>
          </a:p>
        </p:txBody>
      </p:sp>
      <p:cxnSp>
        <p:nvCxnSpPr>
          <p:cNvPr id="162" name="Google Shape;162;p3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/>
          <p:nvPr>
            <p:ph type="title"/>
          </p:nvPr>
        </p:nvSpPr>
        <p:spPr>
          <a:xfrm>
            <a:off x="838200" y="365126"/>
            <a:ext cx="10515600" cy="98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Descriptive Statistics</a:t>
            </a:r>
            <a:endParaRPr/>
          </a:p>
        </p:txBody>
      </p:sp>
      <p:pic>
        <p:nvPicPr>
          <p:cNvPr descr="A group of graphs with numbers&#10;&#10;AI-generated content may be incorrect." id="168" name="Google Shape;168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554631"/>
            <a:ext cx="4053289" cy="460216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4891488" y="1575412"/>
            <a:ext cx="6462311" cy="4601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3498D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Travel Times Buses</a:t>
            </a:r>
            <a:endParaRPr/>
          </a:p>
          <a:p>
            <a:pPr indent="-228600" lvl="0" marL="228600" marR="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ct val="1000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Right-skewed distributions with long tails across all scenarios</a:t>
            </a:r>
            <a:endParaRPr/>
          </a:p>
          <a:p>
            <a:pPr indent="-228600" lvl="0" marL="228600" marR="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ct val="1000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Route 2 shows bimodal patterns (two distinct peaks)</a:t>
            </a:r>
            <a:endParaRPr/>
          </a:p>
          <a:p>
            <a:pPr indent="-228600" lvl="0" marL="228600" marR="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ct val="1000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Visual evidence points toward non-normality</a:t>
            </a:r>
            <a:endParaRPr/>
          </a:p>
        </p:txBody>
      </p:sp>
      <p:cxnSp>
        <p:nvCxnSpPr>
          <p:cNvPr id="172" name="Google Shape;172;p4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aph of a number of data&#10;&#10;AI-generated content may be incorrect." id="177" name="Google Shape;1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1554631"/>
            <a:ext cx="4053289" cy="460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"/>
          <p:cNvSpPr txBox="1"/>
          <p:nvPr>
            <p:ph type="title"/>
          </p:nvPr>
        </p:nvSpPr>
        <p:spPr>
          <a:xfrm>
            <a:off x="838200" y="365126"/>
            <a:ext cx="10515600" cy="98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Descriptive Statistics</a:t>
            </a:r>
            <a:endParaRPr/>
          </a:p>
        </p:txBody>
      </p:sp>
      <p:sp>
        <p:nvSpPr>
          <p:cNvPr id="179" name="Google Shape;17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4891488" y="1575412"/>
            <a:ext cx="6462311" cy="4601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3498D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Travel Times Other Vehicles</a:t>
            </a:r>
            <a:endParaRPr/>
          </a:p>
          <a:p>
            <a:pPr indent="-228600" lvl="0" marL="228600" marR="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ct val="1000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Distributions similar across all scenarios</a:t>
            </a:r>
            <a:endParaRPr/>
          </a:p>
          <a:p>
            <a:pPr indent="-228600" lvl="0" marL="228600" marR="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ct val="1000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All show right-skewed (non-normal) shape with long tails </a:t>
            </a:r>
            <a:endParaRPr/>
          </a:p>
          <a:p>
            <a:pPr indent="-228600" lvl="0" marL="228600" marR="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ct val="1000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Scenario changes seem to minimally impact general traffic flow</a:t>
            </a:r>
            <a:endParaRPr/>
          </a:p>
        </p:txBody>
      </p:sp>
      <p:cxnSp>
        <p:nvCxnSpPr>
          <p:cNvPr id="182" name="Google Shape;182;p5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"/>
          <p:cNvSpPr txBox="1"/>
          <p:nvPr>
            <p:ph type="title"/>
          </p:nvPr>
        </p:nvSpPr>
        <p:spPr>
          <a:xfrm>
            <a:off x="838200" y="365126"/>
            <a:ext cx="10515600" cy="98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Summary Statistics Buses</a:t>
            </a:r>
            <a:endParaRPr/>
          </a:p>
        </p:txBody>
      </p:sp>
      <p:sp>
        <p:nvSpPr>
          <p:cNvPr id="188" name="Google Shape;18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90" name="Google Shape;190;p6"/>
          <p:cNvGraphicFramePr/>
          <p:nvPr/>
        </p:nvGraphicFramePr>
        <p:xfrm>
          <a:off x="838200" y="1574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{6F41572F-3D5A-4BCB-8FA5-35E784A2FD8E}</a:tableStyleId>
              </a:tblPr>
              <a:tblGrid>
                <a:gridCol w="1314450"/>
                <a:gridCol w="1314450"/>
                <a:gridCol w="1314450"/>
                <a:gridCol w="1314450"/>
                <a:gridCol w="1314450"/>
                <a:gridCol w="1314450"/>
                <a:gridCol w="1314450"/>
                <a:gridCol w="1314450"/>
              </a:tblGrid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Route 1 (East→West)</a:t>
                      </a:r>
                      <a:endParaRPr b="1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Route 2 (West→East)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Scenario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Mean (s)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Median (s)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Std Dev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Mean (s)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Median (s)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Std Dev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S1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192.4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181.4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29.4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171.4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175.3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20.1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~</a:t>
                      </a: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300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178.8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174.8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19.0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170.8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175.3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17.4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~</a:t>
                      </a: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300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179.9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172.8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21.0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164.3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160.2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15.1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~</a:t>
                      </a: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300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156.3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13.7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163.6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162.2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11.8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~</a:t>
                      </a: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300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6"/>
          <p:cNvSpPr/>
          <p:nvPr/>
        </p:nvSpPr>
        <p:spPr>
          <a:xfrm>
            <a:off x="2770877" y="3669030"/>
            <a:ext cx="646693" cy="342898"/>
          </a:xfrm>
          <a:prstGeom prst="roundRect">
            <a:avLst>
              <a:gd fmla="val 16667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160.5</a:t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738991" y="3665208"/>
            <a:ext cx="646693" cy="342898"/>
          </a:xfrm>
          <a:prstGeom prst="roundRect">
            <a:avLst>
              <a:gd fmla="val 16667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163.6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838200" y="4137660"/>
            <a:ext cx="10515600" cy="20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Insights:</a:t>
            </a:r>
            <a:endParaRPr/>
          </a:p>
          <a:p>
            <a:pPr indent="-228600" lvl="0" marL="228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S4 is fastest on both routes: 17% (32s) improvement on Route 1, 5% (8s) on Route 2</a:t>
            </a:r>
            <a:endParaRPr/>
          </a:p>
          <a:p>
            <a:pPr indent="-228600" lvl="0" marL="228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S4 provides most consistent travel times (lowest std dev on both routes)</a:t>
            </a:r>
            <a:endParaRPr/>
          </a:p>
        </p:txBody>
      </p:sp>
      <p:cxnSp>
        <p:nvCxnSpPr>
          <p:cNvPr id="194" name="Google Shape;194;p6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/>
          <p:nvPr>
            <p:ph type="title"/>
          </p:nvPr>
        </p:nvSpPr>
        <p:spPr>
          <a:xfrm>
            <a:off x="838200" y="365126"/>
            <a:ext cx="10515600" cy="98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Summary Statistics Other Vehicles</a:t>
            </a:r>
            <a:endParaRPr/>
          </a:p>
        </p:txBody>
      </p:sp>
      <p:sp>
        <p:nvSpPr>
          <p:cNvPr id="200" name="Google Shape;20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02" name="Google Shape;202;p7"/>
          <p:cNvGraphicFramePr/>
          <p:nvPr/>
        </p:nvGraphicFramePr>
        <p:xfrm>
          <a:off x="838200" y="1574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{6F41572F-3D5A-4BCB-8FA5-35E784A2FD8E}</a:tableStyleId>
              </a:tblPr>
              <a:tblGrid>
                <a:gridCol w="1314450"/>
                <a:gridCol w="1314450"/>
                <a:gridCol w="1314450"/>
                <a:gridCol w="1314450"/>
                <a:gridCol w="1314450"/>
                <a:gridCol w="1314450"/>
                <a:gridCol w="1314450"/>
                <a:gridCol w="1314450"/>
              </a:tblGrid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Route 1 (East→West)</a:t>
                      </a:r>
                      <a:endParaRPr b="1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Route 2 (West→East)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Scenario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Mean (s)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Median (s)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Std Dev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Mean (s)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Median (s)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Std Dev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S1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120.7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112.7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 33.8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115.1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110.5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28.9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~</a:t>
                      </a: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20’000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123.7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117.0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33.0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115.2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110.7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28.4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~</a:t>
                      </a: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20’000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118.1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113.8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26.8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123.8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120.5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26.3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~</a:t>
                      </a: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20’000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120.2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116.3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27.4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121.5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119.5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23.4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~</a:t>
                      </a: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20’000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7"/>
          <p:cNvSpPr txBox="1"/>
          <p:nvPr/>
        </p:nvSpPr>
        <p:spPr>
          <a:xfrm>
            <a:off x="838200" y="4137660"/>
            <a:ext cx="10515600" cy="20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Insights:</a:t>
            </a:r>
            <a:endParaRPr/>
          </a:p>
          <a:p>
            <a:pPr indent="-228600" lvl="0" marL="228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Smaller variation between scenarios: largest difference 7% (9s) on Route 2</a:t>
            </a:r>
            <a:endParaRPr/>
          </a:p>
          <a:p>
            <a:pPr indent="-228600" lvl="0" marL="228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No clear winner: S3 fastest on Route 1, S1 fastest on Route 2</a:t>
            </a:r>
            <a:endParaRPr/>
          </a:p>
          <a:p>
            <a:pPr indent="-228600" lvl="0" marL="228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S4 optimizes buses but not other traffic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6716131" y="2433321"/>
            <a:ext cx="646693" cy="342898"/>
          </a:xfrm>
          <a:prstGeom prst="roundRect">
            <a:avLst>
              <a:gd fmla="val 16667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115.1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2772781" y="3257551"/>
            <a:ext cx="646693" cy="342898"/>
          </a:xfrm>
          <a:prstGeom prst="roundRect">
            <a:avLst>
              <a:gd fmla="val 16667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118.1</a:t>
            </a:r>
            <a:endParaRPr/>
          </a:p>
        </p:txBody>
      </p:sp>
      <p:cxnSp>
        <p:nvCxnSpPr>
          <p:cNvPr id="206" name="Google Shape;206;p7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 txBox="1"/>
          <p:nvPr>
            <p:ph type="title"/>
          </p:nvPr>
        </p:nvSpPr>
        <p:spPr>
          <a:xfrm>
            <a:off x="838200" y="365126"/>
            <a:ext cx="10515600" cy="98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Normality Check: Q-Q Plots</a:t>
            </a:r>
            <a:endParaRPr/>
          </a:p>
        </p:txBody>
      </p:sp>
      <p:sp>
        <p:nvSpPr>
          <p:cNvPr id="212" name="Google Shape;21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3" name="Google Shape;213;p8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4" name="Google Shape;214;p8"/>
          <p:cNvPicPr preferRelativeResize="0"/>
          <p:nvPr/>
        </p:nvPicPr>
        <p:blipFill rotWithShape="1">
          <a:blip r:embed="rId3">
            <a:alphaModFix/>
          </a:blip>
          <a:srcRect b="4476" l="0" r="0" t="0"/>
          <a:stretch/>
        </p:blipFill>
        <p:spPr>
          <a:xfrm>
            <a:off x="838200" y="1455285"/>
            <a:ext cx="7249145" cy="2560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4015604"/>
            <a:ext cx="7249145" cy="249260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 txBox="1"/>
          <p:nvPr/>
        </p:nvSpPr>
        <p:spPr>
          <a:xfrm>
            <a:off x="8241030" y="1575412"/>
            <a:ext cx="3112769" cy="4601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498D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Key Takeaways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30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Visual inspection show non-normal distribution  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30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Consistent pattern across all scenarios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30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Shapiro-Wilk test to confirm non-normality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 txBox="1"/>
          <p:nvPr>
            <p:ph type="title"/>
          </p:nvPr>
        </p:nvSpPr>
        <p:spPr>
          <a:xfrm>
            <a:off x="838200" y="365126"/>
            <a:ext cx="10515600" cy="98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Statistical Confirmation of Non-Normality</a:t>
            </a:r>
            <a:endParaRPr/>
          </a:p>
        </p:txBody>
      </p:sp>
      <p:sp>
        <p:nvSpPr>
          <p:cNvPr id="222" name="Google Shape;222;p9"/>
          <p:cNvSpPr txBox="1"/>
          <p:nvPr>
            <p:ph idx="1" type="body"/>
          </p:nvPr>
        </p:nvSpPr>
        <p:spPr>
          <a:xfrm>
            <a:off x="8087344" y="1575412"/>
            <a:ext cx="3266455" cy="4769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223" name="Google Shape;22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4" name="Google Shape;224;p9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25" name="Google Shape;225;p9"/>
          <p:cNvGraphicFramePr/>
          <p:nvPr/>
        </p:nvGraphicFramePr>
        <p:xfrm>
          <a:off x="838200" y="15754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{6F41572F-3D5A-4BCB-8FA5-35E784A2FD8E}</a:tableStyleId>
              </a:tblPr>
              <a:tblGrid>
                <a:gridCol w="1173475"/>
                <a:gridCol w="948700"/>
                <a:gridCol w="1177300"/>
                <a:gridCol w="1565900"/>
              </a:tblGrid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Buses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Other Vehicles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Scenario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Route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p-value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p-value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S1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7.22E-23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9.52E-79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S1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2.51E-19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7.98E-85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S2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1.19E-20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1.09E-72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S2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2.97E-15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3.80E-83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7.03E-21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1.59E-67</a:t>
                      </a:r>
                      <a:endParaRPr/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1.35E-18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3.93E-62</a:t>
                      </a:r>
                      <a:endParaRPr/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8.41E-23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7.60E-66</a:t>
                      </a:r>
                      <a:endParaRPr/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1.01E-14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1.83E-47</a:t>
                      </a:r>
                      <a:endParaRPr/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226" name="Google Shape;226;p9"/>
          <p:cNvGrpSpPr/>
          <p:nvPr/>
        </p:nvGrpSpPr>
        <p:grpSpPr>
          <a:xfrm>
            <a:off x="6096000" y="2607915"/>
            <a:ext cx="4747259" cy="989950"/>
            <a:chOff x="6096000" y="2607915"/>
            <a:chExt cx="4747259" cy="989950"/>
          </a:xfrm>
        </p:grpSpPr>
        <p:sp>
          <p:nvSpPr>
            <p:cNvPr id="227" name="Google Shape;227;p9"/>
            <p:cNvSpPr txBox="1"/>
            <p:nvPr/>
          </p:nvSpPr>
          <p:spPr>
            <a:xfrm>
              <a:off x="6096000" y="2607915"/>
              <a:ext cx="4747259" cy="98995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98DB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Null Hypothesis (H₀):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498DB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Data follows a normal distribution</a:t>
              </a:r>
              <a:endParaRPr/>
            </a:p>
          </p:txBody>
        </p:sp>
        <p:cxnSp>
          <p:nvCxnSpPr>
            <p:cNvPr id="228" name="Google Shape;228;p9"/>
            <p:cNvCxnSpPr/>
            <p:nvPr/>
          </p:nvCxnSpPr>
          <p:spPr>
            <a:xfrm>
              <a:off x="6096000" y="2613391"/>
              <a:ext cx="0" cy="975748"/>
            </a:xfrm>
            <a:prstGeom prst="straightConnector1">
              <a:avLst/>
            </a:prstGeom>
            <a:noFill/>
            <a:ln cap="flat" cmpd="sng" w="34925">
              <a:solidFill>
                <a:srgbClr val="3498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/>
        </p:nvSpPr>
        <p:spPr>
          <a:xfrm>
            <a:off x="6095999" y="1858287"/>
            <a:ext cx="4747259" cy="63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498D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Shapiro-Wilk Test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6095999" y="3698477"/>
            <a:ext cx="4747259" cy="2224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Implications: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Reject normality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 &lt; 0.001.   for all distributions</a:t>
            </a:r>
            <a:endParaRPr b="0" i="0" sz="20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Non-parametric tests required for hypothesis testing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363037" y="4501939"/>
            <a:ext cx="1331876" cy="342898"/>
          </a:xfrm>
          <a:prstGeom prst="roundRect">
            <a:avLst>
              <a:gd fmla="val 16667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 &lt; 0.001</a:t>
            </a:r>
            <a:endParaRPr b="0" i="0" sz="2000" u="none" cap="none" strike="noStrike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 txBox="1"/>
          <p:nvPr>
            <p:ph type="title"/>
          </p:nvPr>
        </p:nvSpPr>
        <p:spPr>
          <a:xfrm>
            <a:off x="838200" y="365126"/>
            <a:ext cx="10515600" cy="98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Hypothesis Testing</a:t>
            </a:r>
            <a:endParaRPr/>
          </a:p>
        </p:txBody>
      </p:sp>
      <p:sp>
        <p:nvSpPr>
          <p:cNvPr id="237" name="Google Shape;23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9" name="Google Shape;239;p10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0" name="Google Shape;240;p10"/>
          <p:cNvSpPr txBox="1"/>
          <p:nvPr>
            <p:ph idx="1" type="body"/>
          </p:nvPr>
        </p:nvSpPr>
        <p:spPr>
          <a:xfrm>
            <a:off x="914400" y="2701950"/>
            <a:ext cx="2596200" cy="22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600"/>
              <a:buFont typeface="Helvetica Neue"/>
              <a:buChar char="•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&gt;2 Samples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600"/>
              <a:buChar char="•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Non-Normality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94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600"/>
              <a:buChar char="•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unpaired</a:t>
            </a:r>
            <a:endParaRPr b="1" sz="2140"/>
          </a:p>
        </p:txBody>
      </p:sp>
      <p:sp>
        <p:nvSpPr>
          <p:cNvPr id="241" name="Google Shape;241;p10"/>
          <p:cNvSpPr/>
          <p:nvPr/>
        </p:nvSpPr>
        <p:spPr>
          <a:xfrm>
            <a:off x="3619500" y="2830075"/>
            <a:ext cx="489900" cy="1524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98D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4218300" y="3068725"/>
            <a:ext cx="5913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AutoNum type="arabicPeriod"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Kruskal-Wallis-Test 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AutoNum type="arabicPeriod"/>
            </a:pPr>
            <a:r>
              <a:rPr lang="en-US" sz="2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Post-Hoc Dunn-Test</a:t>
            </a: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af4c06815_0_83"/>
          <p:cNvSpPr txBox="1"/>
          <p:nvPr>
            <p:ph type="title"/>
          </p:nvPr>
        </p:nvSpPr>
        <p:spPr>
          <a:xfrm>
            <a:off x="838200" y="365126"/>
            <a:ext cx="105156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Statistical Confirmation of Significance</a:t>
            </a:r>
            <a:endParaRPr/>
          </a:p>
        </p:txBody>
      </p:sp>
      <p:sp>
        <p:nvSpPr>
          <p:cNvPr id="248" name="Google Shape;248;g38af4c06815_0_8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8af4c06815_0_8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0" name="Google Shape;250;g38af4c06815_0_83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51" name="Google Shape;251;g38af4c06815_0_83"/>
          <p:cNvGrpSpPr/>
          <p:nvPr/>
        </p:nvGrpSpPr>
        <p:grpSpPr>
          <a:xfrm>
            <a:off x="6095845" y="2607925"/>
            <a:ext cx="5728838" cy="990000"/>
            <a:chOff x="6096000" y="2607925"/>
            <a:chExt cx="5663705" cy="990000"/>
          </a:xfrm>
        </p:grpSpPr>
        <p:sp>
          <p:nvSpPr>
            <p:cNvPr id="252" name="Google Shape;252;g38af4c06815_0_83"/>
            <p:cNvSpPr txBox="1"/>
            <p:nvPr/>
          </p:nvSpPr>
          <p:spPr>
            <a:xfrm>
              <a:off x="6096005" y="2607925"/>
              <a:ext cx="5663700" cy="9900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498DB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Null Hypothesis (H₀):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3498DB"/>
                </a:buClr>
                <a:buSzPts val="2000"/>
                <a:buFont typeface="Arial"/>
                <a:buNone/>
              </a:pPr>
              <a:r>
                <a:rPr lang="en-US" sz="2000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All scenarios result in the same median travel time.</a:t>
              </a:r>
              <a:endParaRPr/>
            </a:p>
          </p:txBody>
        </p:sp>
        <p:cxnSp>
          <p:nvCxnSpPr>
            <p:cNvPr id="253" name="Google Shape;253;g38af4c06815_0_83"/>
            <p:cNvCxnSpPr/>
            <p:nvPr/>
          </p:nvCxnSpPr>
          <p:spPr>
            <a:xfrm>
              <a:off x="6096000" y="2613391"/>
              <a:ext cx="0" cy="975600"/>
            </a:xfrm>
            <a:prstGeom prst="straightConnector1">
              <a:avLst/>
            </a:prstGeom>
            <a:noFill/>
            <a:ln cap="flat" cmpd="sng" w="34925">
              <a:solidFill>
                <a:srgbClr val="3498DB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54" name="Google Shape;254;g38af4c06815_0_83"/>
          <p:cNvSpPr txBox="1"/>
          <p:nvPr/>
        </p:nvSpPr>
        <p:spPr>
          <a:xfrm>
            <a:off x="6095999" y="1858287"/>
            <a:ext cx="47472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498D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Kruskal-Wallis</a:t>
            </a:r>
            <a:r>
              <a:rPr b="1" i="0" lang="en-US" sz="2000" u="none" cap="none" strike="noStrike">
                <a:solidFill>
                  <a:srgbClr val="3498D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Test</a:t>
            </a:r>
            <a:endParaRPr/>
          </a:p>
        </p:txBody>
      </p:sp>
      <p:sp>
        <p:nvSpPr>
          <p:cNvPr id="255" name="Google Shape;255;g38af4c06815_0_83"/>
          <p:cNvSpPr txBox="1"/>
          <p:nvPr/>
        </p:nvSpPr>
        <p:spPr>
          <a:xfrm>
            <a:off x="6096000" y="3698475"/>
            <a:ext cx="57288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Implications: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            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  for </a:t>
            </a: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both directions</a:t>
            </a:r>
            <a:endParaRPr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H₀ can be rejected</a:t>
            </a:r>
            <a:endParaRPr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At least one of the infrastructure adjustments has an impact on travel time</a:t>
            </a:r>
            <a:endParaRPr b="1"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256" name="Google Shape;256;g38af4c06815_0_83"/>
          <p:cNvGraphicFramePr/>
          <p:nvPr/>
        </p:nvGraphicFramePr>
        <p:xfrm>
          <a:off x="838200" y="28408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{6F41572F-3D5A-4BCB-8FA5-35E784A2FD8E}</a:tableStyleId>
              </a:tblPr>
              <a:tblGrid>
                <a:gridCol w="1875725"/>
                <a:gridCol w="1477525"/>
                <a:gridCol w="1275400"/>
              </a:tblGrid>
              <a:tr h="411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Route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H-Statstic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p-value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8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 (</a:t>
                      </a:r>
                      <a:r>
                        <a:rPr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east to west)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462.31</a:t>
                      </a:r>
                      <a:endParaRPr sz="18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&lt;0.001</a:t>
                      </a:r>
                      <a:endParaRPr sz="18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 (west to ea</a:t>
                      </a:r>
                      <a:r>
                        <a:rPr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st)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45.36</a:t>
                      </a:r>
                      <a:endParaRPr sz="18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&lt;0.001</a:t>
                      </a:r>
                      <a:endParaRPr b="0" i="0" sz="1800">
                        <a:solidFill>
                          <a:schemeClr val="dk1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45725" marB="45725" marR="91450" marL="91450" anchor="ctr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57" name="Google Shape;257;g38af4c06815_0_83"/>
          <p:cNvSpPr/>
          <p:nvPr/>
        </p:nvSpPr>
        <p:spPr>
          <a:xfrm>
            <a:off x="6408821" y="4126414"/>
            <a:ext cx="1332000" cy="342900"/>
          </a:xfrm>
          <a:prstGeom prst="roundRect">
            <a:avLst>
              <a:gd fmla="val 16667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 &lt; 0.001</a:t>
            </a:r>
            <a:endParaRPr b="0" i="0" sz="2000" u="none" cap="none" strike="noStrike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af4c06815_0_102"/>
          <p:cNvSpPr txBox="1"/>
          <p:nvPr>
            <p:ph type="title"/>
          </p:nvPr>
        </p:nvSpPr>
        <p:spPr>
          <a:xfrm>
            <a:off x="838200" y="365126"/>
            <a:ext cx="105156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Which scenarios are significantly better?</a:t>
            </a:r>
            <a:endParaRPr/>
          </a:p>
        </p:txBody>
      </p:sp>
      <p:sp>
        <p:nvSpPr>
          <p:cNvPr id="263" name="Google Shape;263;g38af4c06815_0_10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8af4c06815_0_10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5" name="Google Shape;265;g38af4c06815_0_102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6" name="Google Shape;266;g38af4c06815_0_102"/>
          <p:cNvSpPr txBox="1"/>
          <p:nvPr/>
        </p:nvSpPr>
        <p:spPr>
          <a:xfrm>
            <a:off x="6096000" y="1858275"/>
            <a:ext cx="57288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498D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Dunn</a:t>
            </a:r>
            <a:r>
              <a:rPr b="1" i="0" lang="en-US" sz="2000" u="none" cap="none" strike="noStrike">
                <a:solidFill>
                  <a:srgbClr val="3498DB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Test with Holm-Bonferroni Correction</a:t>
            </a:r>
            <a:endParaRPr b="1" i="0" sz="2000" u="none" cap="none" strike="noStrike">
              <a:solidFill>
                <a:srgbClr val="3498D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t/>
            </a:r>
            <a:endParaRPr b="1" sz="2100">
              <a:solidFill>
                <a:srgbClr val="3498DB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67" name="Google Shape;267;g38af4c06815_0_102"/>
          <p:cNvSpPr txBox="1"/>
          <p:nvPr/>
        </p:nvSpPr>
        <p:spPr>
          <a:xfrm>
            <a:off x="6096000" y="2497875"/>
            <a:ext cx="5728800" cy="3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Implications: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</a:t>
            </a: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ignificant pairwise differences in median travel time for most pairs</a:t>
            </a:r>
            <a:endParaRPr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Non-significant differences are easily explainable</a:t>
            </a:r>
            <a:endParaRPr b="1"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East → West: </a:t>
            </a: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Scenario 4 performs </a:t>
            </a: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significantly</a:t>
            </a: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better than all </a:t>
            </a: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other Scenarios</a:t>
            </a:r>
            <a:endParaRPr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28600" lvl="0" marL="228600" rtl="0" algn="l"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Char char="•"/>
            </a:pPr>
            <a:r>
              <a:rPr b="1"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West → East: </a:t>
            </a: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Scenario 3 and 4 perform equally good and significantly better than Scenario 1 and 2</a:t>
            </a:r>
            <a:endParaRPr i="0" sz="20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268" name="Google Shape;268;g38af4c06815_0_102"/>
          <p:cNvGraphicFramePr/>
          <p:nvPr/>
        </p:nvGraphicFramePr>
        <p:xfrm>
          <a:off x="338850" y="165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{61FC1B8B-270D-4CD8-8E2F-34E9D90F3E34}</a:tableStyleId>
              </a:tblPr>
              <a:tblGrid>
                <a:gridCol w="2240450"/>
                <a:gridCol w="779775"/>
                <a:gridCol w="779775"/>
                <a:gridCol w="779775"/>
                <a:gridCol w="779775"/>
              </a:tblGrid>
              <a:tr h="4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Route 1 (East → West)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S2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S3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S4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S1: Base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1.00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S2: No bus bay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1.00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0.49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S3: Actuated TL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0.49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1.00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S4: Act. TL &amp; no bus bay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1.00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9" name="Google Shape;269;g38af4c06815_0_102"/>
          <p:cNvGraphicFramePr/>
          <p:nvPr/>
        </p:nvGraphicFramePr>
        <p:xfrm>
          <a:off x="338850" y="416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{61FC1B8B-270D-4CD8-8E2F-34E9D90F3E34}</a:tableStyleId>
              </a:tblPr>
              <a:tblGrid>
                <a:gridCol w="2240450"/>
                <a:gridCol w="779775"/>
                <a:gridCol w="779775"/>
                <a:gridCol w="779775"/>
                <a:gridCol w="779775"/>
              </a:tblGrid>
              <a:tr h="4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Route 2 (West → East)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S2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S3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S4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S1: Base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1.00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1.00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S2: No bus bay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1.00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1.00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S3: Actuated TL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1.00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1.00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S4: Act. TL &amp; no bus bay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&lt;0.01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1.00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1.00</a:t>
                      </a:r>
                      <a:endParaRPr sz="1500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af4c06815_0_116"/>
          <p:cNvSpPr txBox="1"/>
          <p:nvPr>
            <p:ph type="title"/>
          </p:nvPr>
        </p:nvSpPr>
        <p:spPr>
          <a:xfrm>
            <a:off x="838200" y="365126"/>
            <a:ext cx="105156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Number of simulation runs</a:t>
            </a:r>
            <a:endParaRPr/>
          </a:p>
        </p:txBody>
      </p:sp>
      <p:sp>
        <p:nvSpPr>
          <p:cNvPr id="275" name="Google Shape;275;g38af4c06815_0_1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8af4c06815_0_1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7" name="Google Shape;277;g38af4c06815_0_116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8" name="Google Shape;278;g38af4c06815_0_116"/>
          <p:cNvSpPr txBox="1"/>
          <p:nvPr/>
        </p:nvSpPr>
        <p:spPr>
          <a:xfrm>
            <a:off x="6096000" y="1613575"/>
            <a:ext cx="5728800" cy="51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Simulation runs are time consuming </a:t>
            </a:r>
            <a:endParaRPr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All 4 scenario converged to a stable mean travel time after 20 - 25 simulation runs</a:t>
            </a:r>
            <a:endParaRPr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When runs get shuffled randomly, after around 20 runs, the mean of all sequences lies within range of +/- 5%</a:t>
            </a:r>
            <a:endParaRPr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necessary number of simulation runs is highly dependent on the variance of the traffic behavior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498DB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79" name="Google Shape;279;g38af4c06815_0_116" title="NormAvgTT.jpeg"/>
          <p:cNvPicPr preferRelativeResize="0"/>
          <p:nvPr/>
        </p:nvPicPr>
        <p:blipFill rotWithShape="1">
          <a:blip r:embed="rId3">
            <a:alphaModFix/>
          </a:blip>
          <a:srcRect b="50497" l="0" r="8792" t="0"/>
          <a:stretch/>
        </p:blipFill>
        <p:spPr>
          <a:xfrm>
            <a:off x="531100" y="1613563"/>
            <a:ext cx="5281848" cy="222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g38af4c06815_0_116" title="NormAvgTT.jpeg"/>
          <p:cNvPicPr preferRelativeResize="0"/>
          <p:nvPr/>
        </p:nvPicPr>
        <p:blipFill rotWithShape="1">
          <a:blip r:embed="rId3">
            <a:alphaModFix/>
          </a:blip>
          <a:srcRect b="1078" l="0" r="8792" t="92993"/>
          <a:stretch/>
        </p:blipFill>
        <p:spPr>
          <a:xfrm>
            <a:off x="532974" y="3783150"/>
            <a:ext cx="5281848" cy="266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38af4c06815_0_116" title="NormAvgTT.jpeg"/>
          <p:cNvPicPr preferRelativeResize="0"/>
          <p:nvPr/>
        </p:nvPicPr>
        <p:blipFill rotWithShape="1">
          <a:blip r:embed="rId3">
            <a:alphaModFix/>
          </a:blip>
          <a:srcRect b="43528" l="92307" r="0" t="43157"/>
          <a:stretch/>
        </p:blipFill>
        <p:spPr>
          <a:xfrm>
            <a:off x="5367475" y="1723912"/>
            <a:ext cx="445476" cy="59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8af4c06815_0_116" title="MeanConvergence(1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475" y="3995650"/>
            <a:ext cx="5281848" cy="264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af4c06815_0_129"/>
          <p:cNvSpPr txBox="1"/>
          <p:nvPr>
            <p:ph type="title"/>
          </p:nvPr>
        </p:nvSpPr>
        <p:spPr>
          <a:xfrm>
            <a:off x="838200" y="365126"/>
            <a:ext cx="105156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 Light"/>
              <a:buNone/>
            </a:pPr>
            <a:r>
              <a:rPr lang="en-US"/>
              <a:t>Conclusions &amp; Limitations</a:t>
            </a:r>
            <a:endParaRPr/>
          </a:p>
        </p:txBody>
      </p:sp>
      <p:sp>
        <p:nvSpPr>
          <p:cNvPr id="288" name="Google Shape;288;g38af4c06815_0_12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8af4c06815_0_1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0" name="Google Shape;290;g38af4c06815_0_129"/>
          <p:cNvCxnSpPr/>
          <p:nvPr/>
        </p:nvCxnSpPr>
        <p:spPr>
          <a:xfrm>
            <a:off x="838200" y="1344058"/>
            <a:ext cx="10515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1" name="Google Shape;291;g38af4c06815_0_129"/>
          <p:cNvSpPr txBox="1"/>
          <p:nvPr>
            <p:ph idx="1" type="body"/>
          </p:nvPr>
        </p:nvSpPr>
        <p:spPr>
          <a:xfrm>
            <a:off x="990600" y="1727800"/>
            <a:ext cx="10363200" cy="49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300"/>
              <a:buChar char="•"/>
            </a:pP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Data flood</a:t>
            </a: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r>
              <a:rPr b="1" lang="en-US" sz="2300"/>
              <a:t> </a:t>
            </a:r>
            <a:r>
              <a:rPr lang="en-US" sz="2300"/>
              <a:t>Simulations enable large data sets, selecting the right parameters is harder than having enough data</a:t>
            </a:r>
            <a:endParaRPr sz="2300"/>
          </a:p>
          <a:p>
            <a:pPr indent="-26035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300"/>
              <a:buChar char="•"/>
            </a:pP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Significance ≠ Relevance:</a:t>
            </a:r>
            <a:r>
              <a:rPr b="1" lang="en-US" sz="2300"/>
              <a:t> </a:t>
            </a:r>
            <a:r>
              <a:rPr lang="en-US" sz="2300"/>
              <a:t>with large numbers of observations, even small differences are significant, a small travel time reduction might not be relevant or cost-effective in practice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6035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300"/>
              <a:buChar char="•"/>
            </a:pP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Median values are not the whole story:</a:t>
            </a:r>
            <a:r>
              <a:rPr lang="en-US" sz="2300"/>
              <a:t> More important in Public Transport higher percentiles → That’s where you miss your connecting train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6035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498DB"/>
              </a:buClr>
              <a:buSzPts val="2300"/>
              <a:buChar char="•"/>
            </a:pP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Limitations: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60350" lvl="1" marL="685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498DB"/>
              </a:buClr>
              <a:buSzPts val="2300"/>
              <a:buChar char="•"/>
            </a:pPr>
            <a:r>
              <a:rPr lang="en-US" sz="2300"/>
              <a:t>Focus only on travel time, other metrics not considered</a:t>
            </a:r>
            <a:endParaRPr sz="2300"/>
          </a:p>
          <a:p>
            <a:pPr indent="-260350" lvl="1" marL="685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3498DB"/>
              </a:buClr>
              <a:buSzPts val="2300"/>
              <a:buChar char="•"/>
            </a:pPr>
            <a:r>
              <a:rPr lang="en-US" sz="2300"/>
              <a:t>Focus only on busses, other modes not considered</a:t>
            </a: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0815" lvl="1" marL="6858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890"/>
              <a:buFont typeface="Helvetica Neue"/>
              <a:buChar char="•"/>
            </a:pPr>
            <a:r>
              <a:t/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2025-10-06T13:13:31Z</dcterms:created>
  <dc:creator>Suter, Viktor</dc:creator>
</cp:coreProperties>
</file>